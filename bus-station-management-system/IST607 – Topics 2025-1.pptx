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36" y="-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802437-7A95-744A-D272-16E20AF0F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C1ED14-812E-25B6-82BB-651D3CEA8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23C788-D23D-3133-F40E-5BA36D36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34D3BF-38BF-7E28-19E6-A7315EDF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F78093-DB13-BCA8-CE6C-38E3E61D9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2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8C1312-6F01-D36C-023D-EF56591E2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4485C-1A7B-8582-189A-5353B813A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C8311B-E3E2-0286-F971-2147B81EC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208EF0-44AD-BE90-B0CF-4921E068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B1184B-4377-AAB2-A6E9-48EA5D14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7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A3C17D-0A39-4227-14AF-44B757780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F804B2-A87B-BAED-EE17-9A4D1CD63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3F9F6F-C466-85FB-ED77-05F9E2014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2E5E6C-F646-BD89-B49C-BEFEC8EE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95AC14-2641-A005-259B-4C2AF826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5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65F5AC-C596-30F2-088B-D544345E8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549744-73CB-30FD-B1DF-1579C50AD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326798D-DD99-F8A9-61B9-60C9910FF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9E3BC65-A033-6231-FF9D-42B3FB20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AB810C-0951-1480-963F-FA80B8F8C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71E330-6420-CF4C-43AB-66949A1B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8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91D7E4-5A53-4BDF-D57E-E441FB28B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1EB1BC-CE13-D55C-3237-3AF494EE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75D50E-72D2-F31B-0206-34FD0FFF5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70507A5-C44A-5452-F8DB-40201C6B4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2EFE649-1D28-6A8A-4645-FEC9F348E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5298D93-1BD1-47D3-E40A-3BCFBFC6F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CD3286D-C5B9-949D-B248-D1943AFC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B44C919-3CB4-CB07-9982-1F4BE2D5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78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1E29F5-D382-D4C1-22A7-999B6479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81B19D5-D2B3-14E9-59F2-5E127BCB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A8E3964-E2F5-20D7-9672-9223DFCD5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A6B84E-3AD9-CAA4-C5F3-1084C695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97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4BB2C42-D870-A8F4-10BB-AED77DFBF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68F4B7-408C-59D5-CED6-0FD9309C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BE7862-79B4-95C0-D477-905C0139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C50421-E6F8-4C0C-E3E6-11106AADB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9F8FC3-1147-1A7C-8095-8424382DB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8832E7-EE4F-7F4D-085A-AFAD37BD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42FE9C-79CD-DBE0-87B0-B35033A6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595AE4-8B9B-C974-2D96-A495AE06B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FF1817-722E-355E-7FAC-05FB9A3F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13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97B95D-15EE-3447-5EA3-A778AD52E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9E471F5-4359-7A4C-DEAC-9351F4026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2F08C6-0617-662D-76F5-F858DADF6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4F9976-0290-28C6-C98D-7FDD58F7D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541BA0-7358-C3DF-377B-C17F0218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2D80B8-B222-25B1-D52B-23F98029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3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9E24BE-AA70-E79C-41BC-AE63ACF1C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DF8DA3B-7E19-275E-76EB-930211AFA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31582C-06D9-478E-7630-62A587F1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7B040F-D44B-73E1-B308-45644EFC2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2165F6-7549-CFD0-B489-F413953DA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912927D-E1B6-33AB-B8AD-1C3B0E9DE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6BE121-B628-707A-371B-6279BE0EA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6D88DF-FF4E-4423-E585-085AA4903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6780F2-DB4A-9117-CA93-A3CCC8D7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9E7CDF-F0AC-F455-D8D1-EABDEB3A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E8F734-21ED-B513-3EEE-489978978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C44501-A870-6058-E6E6-763AEA862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A94E0C-8A6B-BA14-DDD6-6BF2D605D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F5F39F-15F1-4B5E-9666-64C21762D7C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840A73-4A7C-A0ED-4A52-58CEA3727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A5A6B4-A6AB-369A-50DB-50E23027B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78F8C-35B9-42AA-B81A-3A6A780A916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6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B12952-34B2-CE37-3B7C-9C0D19CB4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IST607 – Topics 2025/2026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324371E-3E94-05E2-52A2-1224A6AD5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61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C17D7-BD10-E00F-320B-A0A5E8311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Topics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C3E966-4CE2-CFE1-0336-56C318FCA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National surveillance and security (Grp2 – </a:t>
            </a:r>
            <a:r>
              <a:rPr lang="en-US" dirty="0" err="1"/>
              <a:t>Veluyen</a:t>
            </a:r>
            <a:r>
              <a:rPr lang="en-US" dirty="0"/>
              <a:t>, Nancy, </a:t>
            </a:r>
            <a:r>
              <a:rPr lang="en-US" dirty="0" err="1"/>
              <a:t>Neweai</a:t>
            </a:r>
            <a:r>
              <a:rPr lang="en-US" dirty="0"/>
              <a:t>)</a:t>
            </a:r>
          </a:p>
          <a:p>
            <a:r>
              <a:rPr lang="en-US" dirty="0"/>
              <a:t>Automated </a:t>
            </a:r>
            <a:r>
              <a:rPr lang="en-US" dirty="0" err="1"/>
              <a:t>Hysacam</a:t>
            </a:r>
            <a:r>
              <a:rPr lang="en-US" dirty="0"/>
              <a:t> Management System</a:t>
            </a:r>
          </a:p>
          <a:p>
            <a:r>
              <a:rPr lang="en-US" dirty="0"/>
              <a:t>Gym Management System (Grp1- Tikun, Manga, Bih)</a:t>
            </a:r>
          </a:p>
          <a:p>
            <a:r>
              <a:rPr lang="en-US" b="1" dirty="0"/>
              <a:t>Library Management System (Case study)</a:t>
            </a:r>
          </a:p>
          <a:p>
            <a:r>
              <a:rPr lang="en-US" dirty="0"/>
              <a:t>Food Processing System</a:t>
            </a:r>
          </a:p>
          <a:p>
            <a:r>
              <a:rPr lang="en-US" dirty="0"/>
              <a:t>Disaster Management System</a:t>
            </a:r>
          </a:p>
          <a:p>
            <a:r>
              <a:rPr lang="en-US" dirty="0"/>
              <a:t>Bus station Management System (Grp3 – </a:t>
            </a:r>
            <a:r>
              <a:rPr lang="en-US" dirty="0" err="1"/>
              <a:t>Elonge</a:t>
            </a:r>
            <a:r>
              <a:rPr lang="en-US" dirty="0"/>
              <a:t>, Tabot, Oben)</a:t>
            </a:r>
          </a:p>
        </p:txBody>
      </p:sp>
    </p:spTree>
    <p:extLst>
      <p:ext uri="{BB962C8B-B14F-4D97-AF65-F5344CB8AC3E}">
        <p14:creationId xmlns:p14="http://schemas.microsoft.com/office/powerpoint/2010/main" val="51962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53B209-C253-B0A6-F2D9-37D8023CB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Management System (Case study)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1E450A-9C20-B1F7-6A18-685790B16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are the requirements. </a:t>
            </a:r>
          </a:p>
          <a:p>
            <a:pPr lvl="1"/>
            <a:r>
              <a:rPr lang="en-US" dirty="0"/>
              <a:t>Books management (buy, classification, borrowing)</a:t>
            </a:r>
          </a:p>
          <a:p>
            <a:pPr lvl="1"/>
            <a:r>
              <a:rPr lang="en-US" dirty="0"/>
              <a:t>HR management (users (enrollment in the library, borrowing, returning), staff(Buying resources, ))</a:t>
            </a:r>
          </a:p>
          <a:p>
            <a:r>
              <a:rPr lang="en-US" dirty="0"/>
              <a:t> Objectives</a:t>
            </a:r>
          </a:p>
          <a:p>
            <a:pPr lvl="1"/>
            <a:r>
              <a:rPr lang="en-US" dirty="0"/>
              <a:t>Efficiently organize and manage relevant or UpToDate resources</a:t>
            </a:r>
          </a:p>
          <a:p>
            <a:pPr lvl="2"/>
            <a:r>
              <a:rPr lang="en-US" dirty="0"/>
              <a:t>Cataloging and archiving of resources</a:t>
            </a:r>
          </a:p>
          <a:p>
            <a:pPr lvl="2"/>
            <a:r>
              <a:rPr lang="en-US" dirty="0"/>
              <a:t>……</a:t>
            </a:r>
          </a:p>
          <a:p>
            <a:pPr lvl="1"/>
            <a:r>
              <a:rPr lang="en-US" dirty="0"/>
              <a:t>Enhance users access to resources</a:t>
            </a:r>
          </a:p>
          <a:p>
            <a:pPr lvl="1"/>
            <a:r>
              <a:rPr lang="en-US" dirty="0"/>
              <a:t>Efficiently keeping track of user access, borrow and return resources of the library</a:t>
            </a:r>
          </a:p>
          <a:p>
            <a:pPr lvl="1"/>
            <a:r>
              <a:rPr lang="en-US" dirty="0"/>
              <a:t>Tracking of staff activities on borrow and return of resources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55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EC048-4B49-DC3A-B481-17EBA612C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D3EF1F-267B-55FA-05A7-02A3EB415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Management System (Case study)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A43D13-D8FE-278A-532C-5A1ECACC7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noProof="0" dirty="0"/>
              <a:t>Requirement gathering</a:t>
            </a:r>
          </a:p>
          <a:p>
            <a:pPr lvl="1"/>
            <a:r>
              <a:rPr lang="en-US" noProof="0" dirty="0"/>
              <a:t>Categories of resources</a:t>
            </a:r>
          </a:p>
          <a:p>
            <a:pPr lvl="1"/>
            <a:r>
              <a:rPr lang="en-US" noProof="0" dirty="0"/>
              <a:t>Categories of human resources (staff + users)</a:t>
            </a:r>
          </a:p>
          <a:p>
            <a:pPr lvl="1"/>
            <a:r>
              <a:rPr lang="en-US" noProof="0" dirty="0"/>
              <a:t>Processes and procedures (Existing,  to improve and automate)</a:t>
            </a:r>
          </a:p>
          <a:p>
            <a:pPr lvl="1"/>
            <a:r>
              <a:rPr lang="en-US" noProof="0" dirty="0"/>
              <a:t>Policies and regulations</a:t>
            </a:r>
          </a:p>
          <a:p>
            <a:pPr lvl="1"/>
            <a:r>
              <a:rPr lang="en-US" noProof="0" dirty="0"/>
              <a:t>Scalability of the library</a:t>
            </a:r>
          </a:p>
          <a:p>
            <a:r>
              <a:rPr lang="en-US" noProof="0" dirty="0"/>
              <a:t>Feasibility study</a:t>
            </a:r>
          </a:p>
          <a:p>
            <a:pPr lvl="1"/>
            <a:r>
              <a:rPr lang="en-US" noProof="0" dirty="0"/>
              <a:t>Technical feasibility</a:t>
            </a:r>
          </a:p>
          <a:p>
            <a:pPr lvl="2"/>
            <a:r>
              <a:rPr lang="en-US" noProof="0" dirty="0"/>
              <a:t>Yes, we have laptops, internet connection, opensource applications, existing library management systems</a:t>
            </a:r>
          </a:p>
          <a:p>
            <a:pPr lvl="1"/>
            <a:r>
              <a:rPr lang="en-US" noProof="0" dirty="0"/>
              <a:t>Economic feasibility</a:t>
            </a:r>
          </a:p>
          <a:p>
            <a:pPr lvl="2"/>
            <a:r>
              <a:rPr lang="en-US" noProof="0" dirty="0"/>
              <a:t>Cost </a:t>
            </a:r>
            <a:r>
              <a:rPr lang="en-US" noProof="0" dirty="0" err="1"/>
              <a:t>hard+soft+HR</a:t>
            </a:r>
            <a:r>
              <a:rPr lang="en-US" noProof="0" dirty="0"/>
              <a:t> (engineer, analyst, designers, managers, </a:t>
            </a:r>
            <a:r>
              <a:rPr lang="en-US" noProof="0" dirty="0" err="1"/>
              <a:t>finance+training</a:t>
            </a:r>
            <a:r>
              <a:rPr lang="en-US" noProof="0" dirty="0"/>
              <a:t>) = Yes, it is feasible. </a:t>
            </a:r>
          </a:p>
          <a:p>
            <a:pPr lvl="1"/>
            <a:r>
              <a:rPr lang="en-US" noProof="0" dirty="0"/>
              <a:t>Operational feasibility </a:t>
            </a:r>
          </a:p>
          <a:p>
            <a:pPr lvl="2"/>
            <a:r>
              <a:rPr lang="en-US" dirty="0"/>
              <a:t>Good users of ITS (Software users)</a:t>
            </a:r>
            <a:endParaRPr lang="en-US" noProof="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431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35227-C94C-2E10-43ED-5AD4004C9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8B06CD-8AE9-C96F-5F24-06C3C47B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Management System (Case study)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408830-DD95-CC26-5F0D-2621C253D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Requirements specifications</a:t>
            </a:r>
          </a:p>
          <a:p>
            <a:pPr lvl="1"/>
            <a:r>
              <a:rPr lang="en-US" dirty="0"/>
              <a:t>Technical</a:t>
            </a:r>
          </a:p>
          <a:p>
            <a:pPr lvl="2"/>
            <a:r>
              <a:rPr lang="en-US" dirty="0"/>
              <a:t>Laptops, Network, Servers, barcode scanner, Camera, Software Systems, Software applications</a:t>
            </a:r>
          </a:p>
          <a:p>
            <a:pPr lvl="1"/>
            <a:r>
              <a:rPr lang="en-US" dirty="0"/>
              <a:t>Functional requirements</a:t>
            </a:r>
          </a:p>
          <a:p>
            <a:pPr lvl="2"/>
            <a:r>
              <a:rPr lang="en-US" dirty="0"/>
              <a:t>Users' registration (user ID, Fee, Address, Phone number)</a:t>
            </a:r>
          </a:p>
          <a:p>
            <a:pPr lvl="2"/>
            <a:r>
              <a:rPr lang="en-US" dirty="0"/>
              <a:t>Resources registration </a:t>
            </a:r>
          </a:p>
          <a:p>
            <a:pPr lvl="2"/>
            <a:r>
              <a:rPr lang="en-US" dirty="0"/>
              <a:t>Resource acquisition</a:t>
            </a:r>
          </a:p>
          <a:p>
            <a:pPr lvl="2"/>
            <a:r>
              <a:rPr lang="en-US" dirty="0"/>
              <a:t>Authentication</a:t>
            </a:r>
          </a:p>
          <a:p>
            <a:pPr lvl="2"/>
            <a:r>
              <a:rPr lang="en-US" dirty="0"/>
              <a:t>Resource borrowing</a:t>
            </a:r>
          </a:p>
          <a:p>
            <a:pPr lvl="2"/>
            <a:r>
              <a:rPr lang="en-US" dirty="0"/>
              <a:t>Resource returning</a:t>
            </a:r>
          </a:p>
          <a:p>
            <a:pPr lvl="2"/>
            <a:r>
              <a:rPr lang="en-US" dirty="0"/>
              <a:t>System administration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16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6FC5-AD75-896F-E11E-8E7D6E63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BA241-9343-0F55-3438-D797D8C4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Management System (Case study)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8DFB24-CC2C-ABFB-64A2-41B5DC300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Requirements specifications</a:t>
            </a:r>
          </a:p>
          <a:p>
            <a:pPr lvl="1"/>
            <a:r>
              <a:rPr lang="en-US" dirty="0"/>
              <a:t>Non-Functional requirements</a:t>
            </a:r>
          </a:p>
          <a:p>
            <a:pPr lvl="2"/>
            <a:r>
              <a:rPr lang="en-US" dirty="0"/>
              <a:t>Security (Local, doors, …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Staff recruitment</a:t>
            </a:r>
          </a:p>
          <a:p>
            <a:pPr lvl="2"/>
            <a:r>
              <a:rPr lang="en-US" dirty="0"/>
              <a:t>Documentations: analysis, design, tutorial or training doc, admin doc, financial doc, …..</a:t>
            </a:r>
          </a:p>
          <a:p>
            <a:r>
              <a:rPr lang="en-US" dirty="0"/>
              <a:t>Analysis (Structured)</a:t>
            </a:r>
          </a:p>
          <a:p>
            <a:pPr lvl="1"/>
            <a:r>
              <a:rPr lang="en-US" dirty="0"/>
              <a:t>User registration </a:t>
            </a:r>
          </a:p>
          <a:p>
            <a:pPr lvl="2"/>
            <a:r>
              <a:rPr lang="en-US" dirty="0"/>
              <a:t>Creation of user account (roles are different-employee vs user)</a:t>
            </a:r>
          </a:p>
          <a:p>
            <a:pPr lvl="2"/>
            <a:r>
              <a:rPr lang="en-US" dirty="0"/>
              <a:t>New user authentication </a:t>
            </a:r>
          </a:p>
          <a:p>
            <a:pPr lvl="2"/>
            <a:r>
              <a:rPr lang="en-US" strike="sngStrike" dirty="0"/>
              <a:t>Transaction authentication (Use to borrow a book, and the process to follow the book until it is returned)</a:t>
            </a:r>
          </a:p>
          <a:p>
            <a:pPr lvl="2"/>
            <a:r>
              <a:rPr lang="en-US" dirty="0"/>
              <a:t>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230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05F60-2020-501D-F106-C4337857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12063-A746-F4AA-8467-108C35493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Management System (Case study)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49E8C6-477A-B070-F13A-AFA93E7A9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Analyses</a:t>
            </a:r>
          </a:p>
          <a:p>
            <a:pPr lvl="1"/>
            <a:r>
              <a:rPr lang="en-US" dirty="0"/>
              <a:t>Resources registration </a:t>
            </a:r>
          </a:p>
          <a:p>
            <a:pPr lvl="2"/>
            <a:r>
              <a:rPr lang="en-US" dirty="0"/>
              <a:t>Creation of resource code</a:t>
            </a:r>
          </a:p>
          <a:p>
            <a:pPr lvl="2"/>
            <a:r>
              <a:rPr lang="en-US" dirty="0"/>
              <a:t>Registration of the resource in the system </a:t>
            </a:r>
          </a:p>
          <a:p>
            <a:pPr lvl="1"/>
            <a:r>
              <a:rPr lang="en-US" dirty="0"/>
              <a:t>Resource acquisition</a:t>
            </a:r>
          </a:p>
          <a:p>
            <a:pPr lvl="2"/>
            <a:r>
              <a:rPr lang="en-US" dirty="0"/>
              <a:t>Identification of the resource (resource, publisher, bookshop, author, e-books)</a:t>
            </a:r>
          </a:p>
          <a:p>
            <a:pPr lvl="2"/>
            <a:r>
              <a:rPr lang="en-US" dirty="0"/>
              <a:t>Creation of the list of resources to acquire</a:t>
            </a:r>
          </a:p>
          <a:p>
            <a:pPr lvl="2"/>
            <a:r>
              <a:rPr lang="en-US" dirty="0"/>
              <a:t>Validation (budget vs needs/priorities, ….)</a:t>
            </a:r>
          </a:p>
          <a:p>
            <a:pPr lvl="2"/>
            <a:r>
              <a:rPr lang="en-US" dirty="0"/>
              <a:t>Command passing (deadlines, follow the process)</a:t>
            </a:r>
          </a:p>
          <a:p>
            <a:pPr lvl="2"/>
            <a:r>
              <a:rPr lang="en-US" dirty="0"/>
              <a:t>Order the resource</a:t>
            </a:r>
          </a:p>
          <a:p>
            <a:pPr lvl="2"/>
            <a:r>
              <a:rPr lang="en-US" dirty="0"/>
              <a:t>Reception of the resource (It closes the process of acquisition).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546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30987-34B1-5834-3CBC-1F6CE800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71A87F-5DAA-46D0-D916-99CDB3D0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Management System (Case study)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A09D5A-BFDD-05F9-67CB-AECDF1D5C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Authentication </a:t>
            </a:r>
          </a:p>
          <a:p>
            <a:pPr lvl="2"/>
            <a:r>
              <a:rPr lang="en-US" dirty="0"/>
              <a:t>User authentication (if the user have access to the system, role)</a:t>
            </a:r>
          </a:p>
          <a:p>
            <a:pPr lvl="2"/>
            <a:r>
              <a:rPr lang="en-US" dirty="0"/>
              <a:t>Employee authentication (to be able to work in the system and record users transactions, role)</a:t>
            </a:r>
          </a:p>
          <a:p>
            <a:pPr lvl="2"/>
            <a:r>
              <a:rPr lang="en-US" dirty="0"/>
              <a:t>Admin authentication</a:t>
            </a:r>
          </a:p>
          <a:p>
            <a:pPr lvl="1"/>
            <a:r>
              <a:rPr lang="en-US" dirty="0"/>
              <a:t>Resource borrowing</a:t>
            </a:r>
          </a:p>
          <a:p>
            <a:pPr lvl="2"/>
            <a:r>
              <a:rPr lang="en-US" dirty="0"/>
              <a:t>Request to borrow (resource, the user id)</a:t>
            </a:r>
          </a:p>
          <a:p>
            <a:pPr lvl="2"/>
            <a:r>
              <a:rPr lang="en-US" dirty="0"/>
              <a:t>Validation of request (availabilities VS possibilities)</a:t>
            </a:r>
          </a:p>
          <a:p>
            <a:pPr lvl="2"/>
            <a:r>
              <a:rPr lang="en-US" dirty="0"/>
              <a:t>Borrow (date (in-out), recording in the system)</a:t>
            </a:r>
          </a:p>
          <a:p>
            <a:pPr lvl="2"/>
            <a:r>
              <a:rPr lang="en-US" dirty="0"/>
              <a:t>Recall from the  system (If we agree there is a deadline for return) </a:t>
            </a:r>
          </a:p>
          <a:p>
            <a:pPr lvl="2"/>
            <a:r>
              <a:rPr lang="en-US" dirty="0"/>
              <a:t>Recall to a user (if resource were not available at the requested date)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497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C073D-C07A-3F0A-0101-4934E799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E5272F-9844-7CE6-06CE-17123EA52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Management System (Case study)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56AC29-3142-5192-6BC0-8774DBF0A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Resource returning</a:t>
            </a:r>
          </a:p>
          <a:p>
            <a:pPr lvl="2"/>
            <a:r>
              <a:rPr lang="en-US" dirty="0"/>
              <a:t>User identification and resource identification </a:t>
            </a:r>
          </a:p>
          <a:p>
            <a:pPr lvl="2"/>
            <a:r>
              <a:rPr lang="en-US" dirty="0"/>
              <a:t>Updating the system (validate the fact that the resource is returned0</a:t>
            </a:r>
          </a:p>
          <a:p>
            <a:pPr lvl="2"/>
            <a:r>
              <a:rPr lang="en-US" dirty="0"/>
              <a:t>Close the borrowing transaction)</a:t>
            </a:r>
          </a:p>
          <a:p>
            <a:pPr lvl="1"/>
            <a:r>
              <a:rPr lang="en-US" dirty="0"/>
              <a:t>System Administration</a:t>
            </a:r>
          </a:p>
          <a:p>
            <a:pPr lvl="2"/>
            <a:r>
              <a:rPr lang="en-US" dirty="0"/>
              <a:t>Validate user’s registration (at the creation or modification)</a:t>
            </a:r>
          </a:p>
          <a:p>
            <a:pPr lvl="2"/>
            <a:r>
              <a:rPr lang="en-US" dirty="0"/>
              <a:t>Maintenance of the system (Updates of the system, …)</a:t>
            </a:r>
          </a:p>
          <a:p>
            <a:pPr lvl="2"/>
            <a:r>
              <a:rPr lang="en-US" dirty="0"/>
              <a:t>Backups of the system</a:t>
            </a:r>
          </a:p>
          <a:p>
            <a:pPr lvl="2"/>
            <a:r>
              <a:rPr lang="en-US" dirty="0"/>
              <a:t>Monitoring the system (availability, performance, security, …)</a:t>
            </a:r>
          </a:p>
        </p:txBody>
      </p:sp>
    </p:spTree>
    <p:extLst>
      <p:ext uri="{BB962C8B-B14F-4D97-AF65-F5344CB8AC3E}">
        <p14:creationId xmlns:p14="http://schemas.microsoft.com/office/powerpoint/2010/main" val="1662786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6711B-3E54-E3AC-9377-C90E894A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2AD61C-E8D8-C625-0B60-8100C744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Management System (Case study)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86CACF-A85C-FCA2-37A7-9D45D8B26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869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639</Words>
  <Application>Microsoft Office PowerPoint</Application>
  <PresentationFormat>Grand écran</PresentationFormat>
  <Paragraphs>99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IST607 – Topics 2025/2026</vt:lpstr>
      <vt:lpstr>Proposed Topics</vt:lpstr>
      <vt:lpstr>Library Management System (Case study)</vt:lpstr>
      <vt:lpstr>Library Management System (Case study)</vt:lpstr>
      <vt:lpstr>Library Management System (Case study)</vt:lpstr>
      <vt:lpstr>Library Management System (Case study)</vt:lpstr>
      <vt:lpstr>Library Management System (Case study)</vt:lpstr>
      <vt:lpstr>Library Management System (Case study)</vt:lpstr>
      <vt:lpstr>Library Management System (Case study)</vt:lpstr>
      <vt:lpstr>Library Management System (Case study)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MADELEINE NYAMSI</dc:creator>
  <cp:lastModifiedBy>MADELEINE NYAMSI</cp:lastModifiedBy>
  <cp:revision>4</cp:revision>
  <dcterms:created xsi:type="dcterms:W3CDTF">2026-01-08T08:33:58Z</dcterms:created>
  <dcterms:modified xsi:type="dcterms:W3CDTF">2026-01-15T15:43:09Z</dcterms:modified>
</cp:coreProperties>
</file>